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11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544068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438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FA5"/>
                </a:solidFill>
              </a:rPr>
              <a:t>ECOBICI  ×  MACHINE LEARNING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Predicción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Duración de Viajes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0FF"/>
                </a:solidFill>
              </a:rPr>
              <a:t>Clasificación multiclase supervisada con 5 modelos de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418078"/>
            <a:ext cx="2560320" cy="320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4688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C7"/>
                </a:solidFill>
              </a:rPr>
              <a:t>Grupo 7  </a:t>
            </a:r>
            <a:r>
              <a:rPr lang="en-US" sz="1100" dirty="0">
                <a:solidFill>
                  <a:srgbClr val="8BA3C7"/>
                </a:solidFill>
              </a:rPr>
              <a:t>—  Aprendizaje de </a:t>
            </a:r>
            <a:r>
              <a:rPr lang="en-US" sz="1100" dirty="0" err="1">
                <a:solidFill>
                  <a:srgbClr val="8BA3C7"/>
                </a:solidFill>
              </a:rPr>
              <a:t>Máquina</a:t>
            </a:r>
            <a:endParaRPr lang="en-US" sz="1100" dirty="0">
              <a:solidFill>
                <a:srgbClr val="8BA3C7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A3C7"/>
                </a:solidFill>
              </a:rPr>
              <a:t>Carmen Rodríguez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A3C7"/>
                </a:solidFill>
              </a:rPr>
              <a:t>Federico Fernandez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F82D4586-57DE-4E6A-ACA9-FB8924D1E45B}"/>
              </a:ext>
            </a:extLst>
          </p:cNvPr>
          <p:cNvSpPr/>
          <p:nvPr/>
        </p:nvSpPr>
        <p:spPr>
          <a:xfrm>
            <a:off x="5852160" y="96012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E57CEE55-C37E-4A06-8EC0-153A2F3EDFAB}"/>
              </a:ext>
            </a:extLst>
          </p:cNvPr>
          <p:cNvSpPr/>
          <p:nvPr/>
        </p:nvSpPr>
        <p:spPr>
          <a:xfrm>
            <a:off x="5852160" y="106984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~3.2M</a:t>
            </a:r>
            <a:endParaRPr lang="en-US" sz="24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4B61EBF2-D751-43A3-B76B-EDA09931AD32}"/>
              </a:ext>
            </a:extLst>
          </p:cNvPr>
          <p:cNvSpPr/>
          <p:nvPr/>
        </p:nvSpPr>
        <p:spPr>
          <a:xfrm>
            <a:off x="5852160" y="155448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registros</a:t>
            </a:r>
            <a:endParaRPr lang="en-US" sz="10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12DD409-EFE5-4F53-98CA-53C79708FA5A}"/>
              </a:ext>
            </a:extLst>
          </p:cNvPr>
          <p:cNvSpPr/>
          <p:nvPr/>
        </p:nvSpPr>
        <p:spPr>
          <a:xfrm>
            <a:off x="7492873" y="96012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A577A442-BDAD-4D08-9889-EE8FD49A4DA2}"/>
              </a:ext>
            </a:extLst>
          </p:cNvPr>
          <p:cNvSpPr/>
          <p:nvPr/>
        </p:nvSpPr>
        <p:spPr>
          <a:xfrm>
            <a:off x="7492873" y="106984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19</a:t>
            </a:r>
            <a:endParaRPr lang="en-US" sz="24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D89CD8FD-7974-449F-9982-EF5607BB77BA}"/>
              </a:ext>
            </a:extLst>
          </p:cNvPr>
          <p:cNvSpPr/>
          <p:nvPr/>
        </p:nvSpPr>
        <p:spPr>
          <a:xfrm>
            <a:off x="7492873" y="155448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features</a:t>
            </a:r>
            <a:endParaRPr lang="en-US" sz="10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CCC5D616-8965-4F28-B254-2A583E563872}"/>
              </a:ext>
            </a:extLst>
          </p:cNvPr>
          <p:cNvSpPr/>
          <p:nvPr/>
        </p:nvSpPr>
        <p:spPr>
          <a:xfrm>
            <a:off x="5852160" y="2148840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3A8340A-1304-41B0-B8BA-AFA4538C7A3D}"/>
              </a:ext>
            </a:extLst>
          </p:cNvPr>
          <p:cNvSpPr/>
          <p:nvPr/>
        </p:nvSpPr>
        <p:spPr>
          <a:xfrm>
            <a:off x="5852160" y="2258568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3</a:t>
            </a:r>
            <a:endParaRPr lang="en-US" sz="24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3A507CA7-077E-47CA-91A3-08D65C2871EF}"/>
              </a:ext>
            </a:extLst>
          </p:cNvPr>
          <p:cNvSpPr/>
          <p:nvPr/>
        </p:nvSpPr>
        <p:spPr>
          <a:xfrm>
            <a:off x="5852160" y="2743200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clases</a:t>
            </a:r>
            <a:endParaRPr lang="en-US" sz="10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5C31A3E-9D49-4224-B8DF-A3E976E6CB71}"/>
              </a:ext>
            </a:extLst>
          </p:cNvPr>
          <p:cNvSpPr/>
          <p:nvPr/>
        </p:nvSpPr>
        <p:spPr>
          <a:xfrm>
            <a:off x="7492873" y="2167128"/>
            <a:ext cx="1562354" cy="1005840"/>
          </a:xfrm>
          <a:prstGeom prst="roundRect">
            <a:avLst>
              <a:gd name="adj" fmla="val 11364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9DF6ABE3-E236-4712-B7E2-243AE713D984}"/>
              </a:ext>
            </a:extLst>
          </p:cNvPr>
          <p:cNvSpPr/>
          <p:nvPr/>
        </p:nvSpPr>
        <p:spPr>
          <a:xfrm>
            <a:off x="7492873" y="2276856"/>
            <a:ext cx="1562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08BC18A-86AD-4F15-BEE9-8D71B6486A77}"/>
              </a:ext>
            </a:extLst>
          </p:cNvPr>
          <p:cNvSpPr/>
          <p:nvPr/>
        </p:nvSpPr>
        <p:spPr>
          <a:xfrm>
            <a:off x="7492873" y="2761488"/>
            <a:ext cx="15623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7"/>
                </a:solidFill>
              </a:rPr>
              <a:t>modelos</a:t>
            </a:r>
            <a:endParaRPr lang="en-US" sz="10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FD21780-B1AA-45F9-BCDB-D0A594ED6B07}"/>
              </a:ext>
            </a:extLst>
          </p:cNvPr>
          <p:cNvSpPr/>
          <p:nvPr/>
        </p:nvSpPr>
        <p:spPr>
          <a:xfrm>
            <a:off x="6083300" y="3840480"/>
            <a:ext cx="3111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Ecobici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F0FF"/>
                </a:solidFill>
              </a:rPr>
              <a:t>Predecir la duración de un viaje Ecobici antes de que comience — usando solo información disponible al retirar la bici.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00E676">
              <a:alpha val="80000"/>
            </a:srgbClr>
          </a:solidFill>
          <a:ln w="12700">
            <a:solidFill>
              <a:srgbClr val="00E676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CORTO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</a:rPr>
              <a:t>&lt; 10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Período gratuito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69848" y="2834640"/>
            <a:ext cx="731520" cy="731520"/>
          </a:xfrm>
          <a:prstGeom prst="ellipse">
            <a:avLst/>
          </a:prstGeom>
          <a:solidFill>
            <a:srgbClr val="00E676">
              <a:alpha val="7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26%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FFB300">
              <a:alpha val="80000"/>
            </a:srgbClr>
          </a:solidFill>
          <a:ln w="12700">
            <a:solidFill>
              <a:srgbClr val="FFB30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MEDIANO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</a:rPr>
              <a:t>10 – 30 min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Uso típico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2834640"/>
            <a:ext cx="731520" cy="731520"/>
          </a:xfrm>
          <a:prstGeom prst="ellipse">
            <a:avLst/>
          </a:prstGeom>
          <a:solidFill>
            <a:srgbClr val="FFB300">
              <a:alpha val="7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56%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41732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417320"/>
            <a:ext cx="2148840" cy="411480"/>
          </a:xfrm>
          <a:prstGeom prst="roundRect">
            <a:avLst>
              <a:gd name="adj" fmla="val 26667"/>
            </a:avLst>
          </a:prstGeom>
          <a:solidFill>
            <a:srgbClr val="FF5252">
              <a:alpha val="80000"/>
            </a:srgbClr>
          </a:solidFill>
          <a:ln w="12700">
            <a:solidFill>
              <a:srgbClr val="FF5252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63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E3C"/>
                </a:solidFill>
              </a:rPr>
              <a:t>LARGO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9385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</a:rPr>
              <a:t>&gt; 30 min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0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0FF"/>
                </a:solidFill>
              </a:rPr>
              <a:t>Genera cargo adicional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24728" y="2834640"/>
            <a:ext cx="731520" cy="731520"/>
          </a:xfrm>
          <a:prstGeom prst="ellipse">
            <a:avLst/>
          </a:prstGeom>
          <a:solidFill>
            <a:srgbClr val="FF5252">
              <a:alpha val="7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18%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2360" y="141732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00BFA5">
              <a:alpha val="15000"/>
            </a:srgbClr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572768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5236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Métrica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</a:rPr>
              <a:t>Principal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52360" y="263347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macro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5236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F0FF"/>
                </a:solidFill>
              </a:rPr>
              <a:t>Penaliza ignorar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F0FF"/>
                </a:solidFill>
              </a:rPr>
              <a:t>clase Largo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¿Por qué F1-macro?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5760" y="42062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1. </a:t>
            </a:r>
            <a:r>
              <a:rPr lang="en-US" sz="1100" dirty="0">
                <a:solidFill>
                  <a:srgbClr val="E0F0FF"/>
                </a:solidFill>
              </a:rPr>
              <a:t>Accuracy engaña con clases desbalanceadas (56% Mediano)
</a:t>
            </a:r>
            <a:r>
              <a:rPr lang="en-US" sz="1100" b="1" dirty="0">
                <a:solidFill>
                  <a:srgbClr val="00BFA5"/>
                </a:solidFill>
              </a:rPr>
              <a:t>2. </a:t>
            </a:r>
            <a:r>
              <a:rPr lang="en-US" sz="1100" dirty="0">
                <a:solidFill>
                  <a:srgbClr val="E0F0FF"/>
                </a:solidFill>
              </a:rPr>
              <a:t>Penaliza modelos que ignoran la clase Largo (18%)
</a:t>
            </a:r>
            <a:r>
              <a:rPr lang="en-US" sz="1100" b="1" dirty="0">
                <a:solidFill>
                  <a:srgbClr val="00BFA5"/>
                </a:solidFill>
              </a:rPr>
              <a:t>3. </a:t>
            </a:r>
            <a:r>
              <a:rPr lang="en-US" sz="1100" dirty="0">
                <a:solidFill>
                  <a:srgbClr val="E0F0FF"/>
                </a:solidFill>
              </a:rPr>
              <a:t>Clasificador al azar obtiene 0.33 — es el piso real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F0FF"/>
                </a:solidFill>
              </a:rPr>
              <a:t>01 / 05</a:t>
            </a:r>
            <a:endParaRPr lang="en-US" sz="11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Baseline — Regresión Logística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Modelo lineal canónico para clasificación multiclase. Maximiza la verosimilitud de los datos.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E3C"/>
                </a:solidFill>
              </a:rPr>
              <a:t>0.596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F5A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430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2070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0.643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70078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Recall-macro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1115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Detalle por clase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481328"/>
            <a:ext cx="301752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481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Clase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48132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Prec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48132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Rec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14813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F1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1810512"/>
            <a:ext cx="3017520" cy="402336"/>
          </a:xfrm>
          <a:prstGeom prst="rect">
            <a:avLst/>
          </a:prstGeom>
          <a:solidFill>
            <a:srgbClr val="162348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8105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F0FF"/>
                </a:solidFill>
              </a:rPr>
              <a:t>Corto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1810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0.561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1810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0.814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9560" y="181051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0.664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2249424"/>
            <a:ext cx="3017520" cy="402336"/>
          </a:xfrm>
          <a:prstGeom prst="rect">
            <a:avLst/>
          </a:prstGeom>
          <a:solidFill>
            <a:srgbClr val="0F1E3C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22494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F0FF"/>
                </a:solidFill>
              </a:rPr>
              <a:t>Mediano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22494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0.817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06640" y="22494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0.527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09560" y="224942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0.640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2688336"/>
            <a:ext cx="3017520" cy="402336"/>
          </a:xfrm>
          <a:prstGeom prst="rect">
            <a:avLst/>
          </a:prstGeom>
          <a:solidFill>
            <a:srgbClr val="162348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26883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252"/>
                </a:solidFill>
              </a:rPr>
              <a:t>Largo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2688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0.410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26883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0.589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09560" y="26883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252"/>
                </a:solidFill>
              </a:rPr>
              <a:t>0.484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2267712"/>
            <a:ext cx="5340096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Conclusiones del Baseline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2761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r>
              <a:rPr lang="en-US" sz="1100" dirty="0">
                <a:solidFill>
                  <a:srgbClr val="E0F0FF"/>
                </a:solidFill>
              </a:rPr>
              <a:t>Piso sólido: supera ampliamente el azar (0.33) — captura señal real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32369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⚠️  </a:t>
            </a:r>
            <a:r>
              <a:rPr lang="en-US" sz="1100" dirty="0">
                <a:solidFill>
                  <a:srgbClr val="E0F0FF"/>
                </a:solidFill>
              </a:rPr>
              <a:t>Limitación estructural: fronteras lineales no alcanzan para separar las 3 clases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" y="37124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🔴  </a:t>
            </a:r>
            <a:r>
              <a:rPr lang="en-US" sz="1100" dirty="0">
                <a:solidFill>
                  <a:srgbClr val="E0F0FF"/>
                </a:solidFill>
              </a:rPr>
              <a:t>Clase Largo es la más difícil (F1: 0.484) — peor recall relativo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4187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⚙️  </a:t>
            </a:r>
            <a:r>
              <a:rPr lang="en-US" sz="1100" dirty="0">
                <a:solidFill>
                  <a:srgbClr val="E0F0FF"/>
                </a:solidFill>
              </a:rPr>
              <a:t>Solver: SAGA  |  class_weight: balanced  |  Train: 1.5M filas (muestra estratificada)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02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KNN — K-Nearest Neighbors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Algoritmo lazy no paramétrico. Clasifica por votación de los k vecinos más cercanos.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0.592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F5252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0.351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 Largo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170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Hiperparámetros Optuna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444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n_neighbors: 10  |  weights: uniform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p (Minkowski): 1.58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</a:rPr>
              <a:t>Limitaciones Críticas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Maldición de la dimensionalidad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Con 19 features las distancias se homogenizan — el modelo casi no distingue las clases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4612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33756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Recall de Largo: 0.351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Apenas por encima del azar (0.33) — prácticamente no aprende la clase minoritaria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633472"/>
            <a:ext cx="2697480" cy="2304288"/>
          </a:xfrm>
          <a:prstGeom prst="roundRect">
            <a:avLst>
              <a:gd name="adj" fmla="val 4762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2724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🐢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252"/>
                </a:solidFill>
              </a:rPr>
              <a:t>Inviable en producción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22.9 seg para 50k muestras → horas para el test completo. Costo O(n) en inferencia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03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LinearSVC — SVM Lineal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Maximiza el margen entre clases. Implementación O(n) — viable a gran escala.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5"/>
                </a:solidFill>
              </a:rPr>
              <a:t>0.660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15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795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0.1s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23360" y="16733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Tiempo pred.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115568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1795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¿Por qué no SVC con kernel?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508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✗  </a:t>
            </a:r>
            <a:r>
              <a:rPr lang="en-US" sz="1000" dirty="0">
                <a:solidFill>
                  <a:srgbClr val="E0F0FF"/>
                </a:solidFill>
              </a:rPr>
              <a:t>SVC clásico: O(n²) a O(n³)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8379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✗  </a:t>
            </a:r>
            <a:r>
              <a:rPr lang="en-US" sz="1000" dirty="0">
                <a:solidFill>
                  <a:srgbClr val="E0F0FF"/>
                </a:solidFill>
              </a:rPr>
              <a:t>500k filas → matriz inmanejable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✓  </a:t>
            </a:r>
            <a:r>
              <a:rPr lang="en-US" sz="1000" dirty="0">
                <a:solidFill>
                  <a:srgbClr val="E0F0FF"/>
                </a:solidFill>
              </a:rPr>
              <a:t>LinearSVC: misma frontera lineal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496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✓  </a:t>
            </a:r>
            <a:r>
              <a:rPr lang="en-US" sz="1000" dirty="0">
                <a:solidFill>
                  <a:srgbClr val="E0F0FF"/>
                </a:solidFill>
              </a:rPr>
              <a:t>Costo O(n) — escala perfectamente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1762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Baseline vs LinearSVC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530352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Aspecto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F0FF"/>
                          </a:solidFill>
                        </a:rPr>
                        <a:t>Log. Reg.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LinearSVC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Criterio opt.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Verosimilitud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Margen máximo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F1-macro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0.596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FA5"/>
                          </a:solidFill>
                        </a:rPr>
                        <a:t>0.601 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Velocidad pred.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14.2 seg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0.1 seg 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Escalabilidad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F0FF"/>
                          </a:solidFill>
                        </a:rPr>
                        <a:t>Alta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852160" y="2971800"/>
            <a:ext cx="3017520" cy="1984248"/>
          </a:xfrm>
          <a:prstGeom prst="roundRect">
            <a:avLst>
              <a:gd name="adj" fmla="val 460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893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Limitación compartida con baseline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89320" y="342900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Al ser modelo lineal, no captura relaciones no lineales entre features.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F0FF"/>
                </a:solidFill>
              </a:rPr>
              <a:t>El encoding cíclico (hora/mes) y la distancia Haversine tienen patrones que escapan a la frontera lineal.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034" y="1828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6424" y="2377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080760" y="274320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00BFA5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80760" y="274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C"/>
                </a:solidFill>
              </a:rPr>
              <a:t>★  MODELO RECOMENDADO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87552" y="69494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Bagging: 241 árboles paralelos sobre muestras bootstrap. Captura relaciones no lineales.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E3C"/>
                </a:solidFill>
              </a:rPr>
              <a:t>0.703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F5A"/>
                </a:solidFill>
              </a:rPr>
              <a:t>F1-macro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84832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084832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0.734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084832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03904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03904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0.722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803904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Recall-macro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22976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22976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0.607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522976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 Largo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242048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242048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8.8s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242048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Tiempo pred.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Hiperparámetros — Optuna (10 trials)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2706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n_estimators:  </a:t>
            </a:r>
            <a:r>
              <a:rPr lang="en-US" sz="1050" dirty="0">
                <a:solidFill>
                  <a:srgbClr val="E0F0FF"/>
                </a:solidFill>
              </a:rPr>
              <a:t>241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max_depth:  </a:t>
            </a:r>
            <a:r>
              <a:rPr lang="en-US" sz="1050" dirty="0">
                <a:solidFill>
                  <a:srgbClr val="E0F0FF"/>
                </a:solidFill>
              </a:rPr>
              <a:t>27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max_features:  </a:t>
            </a:r>
            <a:r>
              <a:rPr lang="en-US" sz="1050" dirty="0">
                <a:solidFill>
                  <a:srgbClr val="E0F0FF"/>
                </a:solidFill>
              </a:rPr>
              <a:t>0.591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3749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min_samples_split:  </a:t>
            </a:r>
            <a:r>
              <a:rPr lang="en-US" sz="1050" dirty="0">
                <a:solidFill>
                  <a:srgbClr val="E0F0FF"/>
                </a:solidFill>
              </a:rPr>
              <a:t>8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096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min_samples_leaf:  </a:t>
            </a:r>
            <a:r>
              <a:rPr lang="en-US" sz="1050" dirty="0">
                <a:solidFill>
                  <a:srgbClr val="E0F0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4443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Train:  </a:t>
            </a:r>
            <a:r>
              <a:rPr lang="en-US" sz="1050" dirty="0">
                <a:solidFill>
                  <a:srgbClr val="E0F0FF"/>
                </a:solidFill>
              </a:rPr>
              <a:t>1M filas  |  class_weight: balanced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00BFA5">
              <a:alpha val="12000"/>
            </a:srgbClr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93776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Por qué es el modelo recomendado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27432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+10.7 pts de F1-macro sobre el baseline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937760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Recall-macro del proyecto: 0.722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937760" y="3803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Recall de clase Largo: 0.607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937760" y="43342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Detectar viajes Largos = objetivo operativo clave (cobro adicional)</a:t>
            </a:r>
            <a:endParaRPr lang="en-US" sz="1050" dirty="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A63199E8-2423-4B25-81B8-7D1DDA1C0773}"/>
              </a:ext>
            </a:extLst>
          </p:cNvPr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A1CCEA7C-E145-42AF-BA76-0C4B367A1C34}"/>
              </a:ext>
            </a:extLst>
          </p:cNvPr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04 / 05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0" cy="347472"/>
          </a:xfrm>
          <a:prstGeom prst="roundRect">
            <a:avLst>
              <a:gd name="adj" fmla="val 21053"/>
            </a:avLst>
          </a:prstGeom>
          <a:solidFill>
            <a:srgbClr val="8BA3C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F0FF"/>
                </a:solidFill>
              </a:rPr>
              <a:t>05 / 05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XGBoost — Extreme Gradient Boosting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6949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Boosting secuencial: cada árbol corrige los errores del anterior. Regularización L1 y L2 nativa.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00BFA5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0.704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F1-macro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0.751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84832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03904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0.693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03904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Recall-macro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22976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FF5252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0.478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22976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Recall Largo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42048" y="1115568"/>
            <a:ext cx="1536192" cy="914400"/>
          </a:xfrm>
          <a:prstGeom prst="roundRect">
            <a:avLst>
              <a:gd name="adj" fmla="val 12000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42048" y="1170432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2.3s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42048" y="16642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Tiempo pred.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Hiperparámetros — Optuna (30 trials)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706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n_estimators:  </a:t>
            </a:r>
            <a:r>
              <a:rPr lang="en-US" sz="1050" dirty="0">
                <a:solidFill>
                  <a:srgbClr val="E0F0FF"/>
                </a:solidFill>
              </a:rPr>
              <a:t>202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max_depth:  </a:t>
            </a:r>
            <a:r>
              <a:rPr lang="en-US" sz="1050" dirty="0">
                <a:solidFill>
                  <a:srgbClr val="E0F0FF"/>
                </a:solidFill>
              </a:rPr>
              <a:t>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learning_rate:  </a:t>
            </a:r>
            <a:r>
              <a:rPr lang="en-US" sz="1050" dirty="0">
                <a:solidFill>
                  <a:srgbClr val="E0F0FF"/>
                </a:solidFill>
              </a:rPr>
              <a:t>0.187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subsample:  </a:t>
            </a:r>
            <a:r>
              <a:rPr lang="en-US" sz="1050" dirty="0">
                <a:solidFill>
                  <a:srgbClr val="E0F0FF"/>
                </a:solidFill>
              </a:rPr>
              <a:t>0.912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096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colsample_bytree:  </a:t>
            </a:r>
            <a:r>
              <a:rPr lang="en-US" sz="1050" dirty="0">
                <a:solidFill>
                  <a:srgbClr val="E0F0FF"/>
                </a:solidFill>
              </a:rPr>
              <a:t>0.801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443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C7"/>
                </a:solidFill>
              </a:rPr>
              <a:t>gamma:  </a:t>
            </a:r>
            <a:r>
              <a:rPr lang="en-US" sz="1050" dirty="0">
                <a:solidFill>
                  <a:srgbClr val="E0F0FF"/>
                </a:solidFill>
              </a:rPr>
              <a:t>0.719  |  Train: 1.5M filas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212848"/>
            <a:ext cx="4114800" cy="2697480"/>
          </a:xfrm>
          <a:prstGeom prst="roundRect">
            <a:avLst>
              <a:gd name="adj" fmla="val 4068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XGBoost vs Random Forest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Accuracy: 0.751 vs 0.734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Mejor Precision-macro: 0.731 vs 0.697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803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676"/>
                </a:solidFill>
              </a:rPr>
              <a:t>✓  </a:t>
            </a:r>
            <a:r>
              <a:rPr lang="en-US" sz="1050" dirty="0">
                <a:solidFill>
                  <a:srgbClr val="E0F0FF"/>
                </a:solidFill>
              </a:rPr>
              <a:t>Más rápido en inferencia: 2.3s vs 8.8s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3342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252"/>
                </a:solidFill>
              </a:rPr>
              <a:t>✗  </a:t>
            </a:r>
            <a:r>
              <a:rPr lang="en-US" sz="1050" dirty="0">
                <a:solidFill>
                  <a:srgbClr val="E0F0FF"/>
                </a:solidFill>
              </a:rPr>
              <a:t>Peor Recall Largo: 0.478 vs 0.607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B300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E3C"/>
                </a:solidFill>
              </a:rPr>
              <a:t>EXPERIMENTO ADICIONAL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920240" y="2560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CatBoost — Ordered Boosting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0FF"/>
                </a:solidFill>
              </a:rPr>
              <a:t>Desarrollado por Yandex. Entrena cada árbol sobre subconjuntos ordenados — evita usar el mismo dato para residuos y entrenamiento.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FA5"/>
                </a:solidFill>
              </a:rPr>
              <a:t>0.671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F1-macro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A3C7"/>
                </a:solidFill>
              </a:rPr>
              <a:t>default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FA5"/>
                </a:solidFill>
              </a:rPr>
              <a:t>0.709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Recall-macro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0.657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Recall Largo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★ 2do mejor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94576" y="1115568"/>
            <a:ext cx="1993392" cy="1051560"/>
          </a:xfrm>
          <a:prstGeom prst="roundRect">
            <a:avLst>
              <a:gd name="adj" fmla="val 10435"/>
            </a:avLst>
          </a:prstGeom>
          <a:solidFill>
            <a:srgbClr val="00897B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17043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0.1s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94576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Tiempo pred.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19476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★ más rápido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Recall Largo: 0.657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Segundo mejor del proyecto. El ordered boosting captura mejor la clase minoritaria sin Optuna.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4612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Inferencia: 0.1 seg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Tan rápido como LinearSVC sobre 975k muestras. Ideal para producción con baja latencia.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4231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🔭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17920" y="29992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Potencial sin explotar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0FF"/>
                </a:solidFill>
              </a:rPr>
              <a:t>Sin Optuna ya supera al baseline. Con tuning podría competir con RF en F1-macro. Línea de mejora futura.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Comparación Final de Modelos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01852"/>
              </p:ext>
            </p:extLst>
          </p:nvPr>
        </p:nvGraphicFramePr>
        <p:xfrm>
          <a:off x="365760" y="823976"/>
          <a:ext cx="8412480" cy="269392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Modelo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F1-macro ★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Recall Largo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Tiempo pred.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XGBoost (Optuna)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BFA5"/>
                          </a:solidFill>
                        </a:rPr>
                        <a:t>0.7037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0.7513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0.478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2.3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B300"/>
                          </a:solidFill>
                        </a:rPr>
                        <a:t>Random Forest (Optuna) ★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B300"/>
                          </a:solidFill>
                        </a:rPr>
                        <a:t>0.7032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0.7319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E676"/>
                          </a:solidFill>
                        </a:rPr>
                        <a:t>0.607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8.8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CatBoost (default)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0.6708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0.6902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0.657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0.1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LinearSVC (Optuna)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0.6005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0.6601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0.358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BFA5"/>
                          </a:solidFill>
                        </a:rPr>
                        <a:t>0.1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Baseline — Log. Reg.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0.5960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0.6134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0.589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F0FF"/>
                          </a:solidFill>
                        </a:rPr>
                        <a:t>14.2 seg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KNN (Optuna)*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0.5916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0.6518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0.351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F5252"/>
                          </a:solidFill>
                        </a:rPr>
                        <a:t>22.9 seg*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49961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7"/>
                </a:solidFill>
              </a:rPr>
              <a:t>* KNN evaluado sobre muestra de 50k — inviable sobre el test completo (~975k).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762734" y="3897884"/>
            <a:ext cx="4919015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6814" y="388874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XGBoost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727469" y="388874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A5"/>
                </a:solidFill>
              </a:rPr>
              <a:t>0.7037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762734" y="4099052"/>
            <a:ext cx="4903013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6814" y="408990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Rnd Forest ★</a:t>
            </a:r>
            <a:endParaRPr lang="en-US" sz="800" dirty="0"/>
          </a:p>
        </p:txBody>
      </p:sp>
      <p:sp>
        <p:nvSpPr>
          <p:cNvPr id="3" name="Text 7"/>
          <p:cNvSpPr/>
          <p:nvPr/>
        </p:nvSpPr>
        <p:spPr>
          <a:xfrm>
            <a:off x="6711467" y="40899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B300"/>
                </a:solidFill>
              </a:rPr>
              <a:t>0.7032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62734" y="4300220"/>
            <a:ext cx="3866083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814" y="4291076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CatBoost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674537" y="42910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97B"/>
                </a:solidFill>
              </a:rPr>
              <a:t>0.6708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762734" y="4501388"/>
            <a:ext cx="161620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814" y="449224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LinearSVC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24656" y="449224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0.6005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762734" y="4702556"/>
            <a:ext cx="1472184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6814" y="469341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Baseline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80638" y="469341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75569"/>
                </a:solidFill>
              </a:rPr>
              <a:t>0.5960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762734" y="4903724"/>
            <a:ext cx="1331366" cy="914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814" y="489458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0F0FF"/>
                </a:solidFill>
              </a:rPr>
              <a:t>KNN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139820" y="489458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5252"/>
                </a:solidFill>
              </a:rPr>
              <a:t>0.5916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8EED3D67-24A0-4754-9F78-648CC3EF7048}"/>
              </a:ext>
            </a:extLst>
          </p:cNvPr>
          <p:cNvSpPr/>
          <p:nvPr/>
        </p:nvSpPr>
        <p:spPr>
          <a:xfrm>
            <a:off x="36576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00BFA5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85B6829-E44A-4CB2-B326-6D5C0609C0C2}"/>
              </a:ext>
            </a:extLst>
          </p:cNvPr>
          <p:cNvSpPr/>
          <p:nvPr/>
        </p:nvSpPr>
        <p:spPr>
          <a:xfrm>
            <a:off x="36576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E3C"/>
                </a:solidFill>
              </a:rPr>
              <a:t>0.703</a:t>
            </a:r>
            <a:endParaRPr lang="en-US" sz="26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837DB676-E332-4773-98B4-231BFD7DEB16}"/>
              </a:ext>
            </a:extLst>
          </p:cNvPr>
          <p:cNvSpPr/>
          <p:nvPr/>
        </p:nvSpPr>
        <p:spPr>
          <a:xfrm>
            <a:off x="36576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F5A"/>
                </a:solidFill>
              </a:rPr>
              <a:t>F1-macro</a:t>
            </a:r>
            <a:endParaRPr lang="en-US" sz="9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50238D16-592D-4616-90DA-194CA27AE8DC}"/>
              </a:ext>
            </a:extLst>
          </p:cNvPr>
          <p:cNvSpPr/>
          <p:nvPr/>
        </p:nvSpPr>
        <p:spPr>
          <a:xfrm>
            <a:off x="36576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F5A"/>
                </a:solidFill>
              </a:rPr>
              <a:t>métrica principal</a:t>
            </a:r>
            <a:endParaRPr lang="en-US" sz="8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1717B9DC-38E6-4169-A9F3-DA4FB2AB6BEF}"/>
              </a:ext>
            </a:extLst>
          </p:cNvPr>
          <p:cNvSpPr/>
          <p:nvPr/>
        </p:nvSpPr>
        <p:spPr>
          <a:xfrm>
            <a:off x="320040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6234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890D5845-9A87-4E20-B8A9-D03F8D2E7B5A}"/>
              </a:ext>
            </a:extLst>
          </p:cNvPr>
          <p:cNvSpPr/>
          <p:nvPr/>
        </p:nvSpPr>
        <p:spPr>
          <a:xfrm>
            <a:off x="320040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0.722</a:t>
            </a:r>
            <a:endParaRPr lang="en-US" sz="26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F75AE3A-D180-44F4-9F87-D0F4E28D648F}"/>
              </a:ext>
            </a:extLst>
          </p:cNvPr>
          <p:cNvSpPr/>
          <p:nvPr/>
        </p:nvSpPr>
        <p:spPr>
          <a:xfrm>
            <a:off x="320040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F0FF"/>
                </a:solidFill>
              </a:rPr>
              <a:t>Recall-macro</a:t>
            </a:r>
            <a:endParaRPr lang="en-US" sz="9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E395B3EB-E505-4159-8BD1-CA2F0BDAE494}"/>
              </a:ext>
            </a:extLst>
          </p:cNvPr>
          <p:cNvSpPr/>
          <p:nvPr/>
        </p:nvSpPr>
        <p:spPr>
          <a:xfrm>
            <a:off x="320040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</a:rPr>
              <a:t>mejor del proyecto</a:t>
            </a:r>
            <a:endParaRPr lang="en-US" sz="8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8E587A57-BFAB-464D-93D5-FFA00B6BE6B2}"/>
              </a:ext>
            </a:extLst>
          </p:cNvPr>
          <p:cNvSpPr/>
          <p:nvPr/>
        </p:nvSpPr>
        <p:spPr>
          <a:xfrm>
            <a:off x="6035040" y="1103630"/>
            <a:ext cx="2606040" cy="822960"/>
          </a:xfrm>
          <a:prstGeom prst="roundRect">
            <a:avLst>
              <a:gd name="adj" fmla="val 11111"/>
            </a:avLst>
          </a:prstGeom>
          <a:solidFill>
            <a:srgbClr val="162348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11F73B1D-0726-430B-B9A2-695DC8A01D15}"/>
              </a:ext>
            </a:extLst>
          </p:cNvPr>
          <p:cNvSpPr/>
          <p:nvPr/>
        </p:nvSpPr>
        <p:spPr>
          <a:xfrm>
            <a:off x="6035040" y="113106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</a:rPr>
              <a:t>0.607</a:t>
            </a:r>
            <a:endParaRPr lang="en-US" sz="26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2BAE6BBA-F25F-4057-A2DF-800818B2E212}"/>
              </a:ext>
            </a:extLst>
          </p:cNvPr>
          <p:cNvSpPr/>
          <p:nvPr/>
        </p:nvSpPr>
        <p:spPr>
          <a:xfrm>
            <a:off x="6035040" y="157911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F0FF"/>
                </a:solidFill>
              </a:rPr>
              <a:t>Recall Largo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D6AA05A-C26C-4D5E-8ABC-C0BE5F928407}"/>
              </a:ext>
            </a:extLst>
          </p:cNvPr>
          <p:cNvSpPr/>
          <p:nvPr/>
        </p:nvSpPr>
        <p:spPr>
          <a:xfrm>
            <a:off x="6035040" y="177114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7"/>
                </a:solidFill>
              </a:rPr>
              <a:t>objetivo operativo clave</a:t>
            </a:r>
            <a:endParaRPr lang="en-US" sz="8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307C182B-D185-4354-8BD5-C82F142788EB}"/>
              </a:ext>
            </a:extLst>
          </p:cNvPr>
          <p:cNvSpPr/>
          <p:nvPr/>
        </p:nvSpPr>
        <p:spPr>
          <a:xfrm>
            <a:off x="320040" y="2109470"/>
            <a:ext cx="5074920" cy="2941320"/>
          </a:xfrm>
          <a:prstGeom prst="roundRect">
            <a:avLst>
              <a:gd name="adj" fmla="val 4179"/>
            </a:avLst>
          </a:prstGeom>
          <a:solidFill>
            <a:srgbClr val="162348"/>
          </a:solidFill>
          <a:ln/>
          <a:effectLst>
            <a:outerShdw blurRad="152400" dist="381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3AB81BAA-C96B-4D06-846A-143C50C86D99}"/>
              </a:ext>
            </a:extLst>
          </p:cNvPr>
          <p:cNvSpPr/>
          <p:nvPr/>
        </p:nvSpPr>
        <p:spPr>
          <a:xfrm>
            <a:off x="548640" y="21056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Hallazgos principales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22CB6FE1-3233-4A01-B942-EF5AAA470F90}"/>
              </a:ext>
            </a:extLst>
          </p:cNvPr>
          <p:cNvSpPr/>
          <p:nvPr/>
        </p:nvSpPr>
        <p:spPr>
          <a:xfrm>
            <a:off x="502920" y="24714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🌳</a:t>
            </a:r>
            <a:endParaRPr lang="en-US" sz="16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6C3B7BE-FCAB-48B2-8A7F-5EAA95F37D10}"/>
              </a:ext>
            </a:extLst>
          </p:cNvPr>
          <p:cNvSpPr/>
          <p:nvPr/>
        </p:nvSpPr>
        <p:spPr>
          <a:xfrm>
            <a:off x="914400" y="247142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</a:rPr>
              <a:t>Estructura no lineal confirmada</a:t>
            </a:r>
            <a:endParaRPr lang="en-US" sz="10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E5FBF53E-7926-4AFC-8574-4C7BADECD116}"/>
              </a:ext>
            </a:extLst>
          </p:cNvPr>
          <p:cNvSpPr/>
          <p:nvPr/>
        </p:nvSpPr>
        <p:spPr>
          <a:xfrm>
            <a:off x="914400" y="27183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RF y XGBoost superan +10 pts de F1-macro a los modelos lineales. El problema requiere árboles para capturar las interacciones entre hora, distancia y destino.</a:t>
            </a:r>
            <a:endParaRPr lang="en-US" sz="9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92BCF055-8347-49B4-BEC0-F38C5E3C60B3}"/>
              </a:ext>
            </a:extLst>
          </p:cNvPr>
          <p:cNvSpPr/>
          <p:nvPr/>
        </p:nvSpPr>
        <p:spPr>
          <a:xfrm>
            <a:off x="502920" y="31297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DE1F674-313B-4C53-AAF8-B2718D5C5632}"/>
              </a:ext>
            </a:extLst>
          </p:cNvPr>
          <p:cNvSpPr/>
          <p:nvPr/>
        </p:nvSpPr>
        <p:spPr>
          <a:xfrm>
            <a:off x="914400" y="312978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252"/>
                </a:solidFill>
              </a:rPr>
              <a:t>Clase Largo: el cuello de botella universal</a:t>
            </a:r>
            <a:endParaRPr lang="en-US" sz="1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D9CB768A-C189-4A08-8D77-36F91B79FAB5}"/>
              </a:ext>
            </a:extLst>
          </p:cNvPr>
          <p:cNvSpPr/>
          <p:nvPr/>
        </p:nvSpPr>
        <p:spPr>
          <a:xfrm>
            <a:off x="914400" y="337667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18% del dataset. Todos los modelos tienen su peor F1 en esta clase. Causa raíz: el comportamiento del usuario (si va directo, si pasea) no está en las features al momento de retirar la bici.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F599E2C9-39C9-42CF-81CA-9EF33C000E4C}"/>
              </a:ext>
            </a:extLst>
          </p:cNvPr>
          <p:cNvSpPr/>
          <p:nvPr/>
        </p:nvSpPr>
        <p:spPr>
          <a:xfrm>
            <a:off x="502920" y="37881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CDF92F34-F8AA-4168-9E34-634BD6737AFA}"/>
              </a:ext>
            </a:extLst>
          </p:cNvPr>
          <p:cNvSpPr/>
          <p:nvPr/>
        </p:nvSpPr>
        <p:spPr>
          <a:xfrm>
            <a:off x="914400" y="3788156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</a:rPr>
              <a:t>Optuna fue clave para los modelos no lineales</a:t>
            </a:r>
            <a:endParaRPr lang="en-US" sz="10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191F7A3B-327E-41A3-804A-9FCDAC7AA1A6}"/>
              </a:ext>
            </a:extLst>
          </p:cNvPr>
          <p:cNvSpPr/>
          <p:nvPr/>
        </p:nvSpPr>
        <p:spPr>
          <a:xfrm>
            <a:off x="914400" y="40350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Búsqueda bayesiana (TPE) en 10–30 trials encontró hiperparámetros óptimos. RF pasó de F1-macro 0.68 (default) a 0.703 tras la optimización.</a:t>
            </a:r>
            <a:endParaRPr lang="en-US" sz="9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5B8C9941-36DF-4E72-A1D6-2505A18381E1}"/>
              </a:ext>
            </a:extLst>
          </p:cNvPr>
          <p:cNvSpPr/>
          <p:nvPr/>
        </p:nvSpPr>
        <p:spPr>
          <a:xfrm>
            <a:off x="502920" y="44465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11358717-2BC0-43E6-8AD9-C5D012D39796}"/>
              </a:ext>
            </a:extLst>
          </p:cNvPr>
          <p:cNvSpPr/>
          <p:nvPr/>
        </p:nvSpPr>
        <p:spPr>
          <a:xfrm>
            <a:off x="914400" y="44465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3C7"/>
                </a:solidFill>
              </a:rPr>
              <a:t>KNN: inviable a esta escala</a:t>
            </a:r>
            <a:endParaRPr lang="en-US" sz="10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DDB2E33D-DE18-4D63-881F-BCD818413034}"/>
              </a:ext>
            </a:extLst>
          </p:cNvPr>
          <p:cNvSpPr/>
          <p:nvPr/>
        </p:nvSpPr>
        <p:spPr>
          <a:xfrm>
            <a:off x="914400" y="46934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0FF"/>
                </a:solidFill>
              </a:rPr>
              <a:t>Único modelo debajo del baseline. Maldición de la dimensionalidad con 19 features + costo O(n) en inferencia = 22.9 seg para solo 50k muestras.</a:t>
            </a:r>
            <a:endParaRPr lang="en-US" sz="900" dirty="0"/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47F171E6-F64D-465E-A638-CAD13EEE2167}"/>
              </a:ext>
            </a:extLst>
          </p:cNvPr>
          <p:cNvSpPr/>
          <p:nvPr/>
        </p:nvSpPr>
        <p:spPr>
          <a:xfrm>
            <a:off x="5577840" y="2109470"/>
            <a:ext cx="3291840" cy="1508760"/>
          </a:xfrm>
          <a:prstGeom prst="roundRect">
            <a:avLst>
              <a:gd name="adj" fmla="val 8485"/>
            </a:avLst>
          </a:prstGeom>
          <a:solidFill>
            <a:srgbClr val="00BFA5">
              <a:alpha val="15000"/>
            </a:srgbClr>
          </a:solidFill>
          <a:ln/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B6DBA27E-B2BE-4532-B750-D152376292A7}"/>
              </a:ext>
            </a:extLst>
          </p:cNvPr>
          <p:cNvSpPr/>
          <p:nvPr/>
        </p:nvSpPr>
        <p:spPr>
          <a:xfrm>
            <a:off x="5760720" y="218262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Veredicto final</a:t>
            </a:r>
            <a:endParaRPr lang="en-US" sz="110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189245A5-C514-4435-8ED0-85D8EB0B8137}"/>
              </a:ext>
            </a:extLst>
          </p:cNvPr>
          <p:cNvSpPr/>
          <p:nvPr/>
        </p:nvSpPr>
        <p:spPr>
          <a:xfrm>
            <a:off x="5760720" y="2466086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0FF"/>
                </a:solidFill>
              </a:rPr>
              <a:t>XGBoost lidera en F1-macro (0.704) y velocidad (2.3s).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0FF"/>
                </a:solidFill>
              </a:rPr>
              <a:t>Random Forest es el modelo recomendado operativamente: detecta mejor los viajes Largos (Recall 0.607 vs 0.478), el error más costoso para el usuario.</a:t>
            </a:r>
            <a:endParaRPr lang="en-US" sz="95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3E063802-342E-4D9B-85C7-F4C53A51AE95}"/>
              </a:ext>
            </a:extLst>
          </p:cNvPr>
          <p:cNvSpPr/>
          <p:nvPr/>
        </p:nvSpPr>
        <p:spPr>
          <a:xfrm>
            <a:off x="5760720" y="380111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💡 Métrica ML ↔ Negocio</a:t>
            </a:r>
            <a:endParaRPr lang="en-US" sz="1100" dirty="0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14E76BCC-67C9-4EA8-BE78-A9E4FEECF6E9}"/>
              </a:ext>
            </a:extLst>
          </p:cNvPr>
          <p:cNvSpPr/>
          <p:nvPr/>
        </p:nvSpPr>
        <p:spPr>
          <a:xfrm>
            <a:off x="5029200" y="137160"/>
            <a:ext cx="3840480" cy="749808"/>
          </a:xfrm>
          <a:prstGeom prst="roundRect">
            <a:avLst>
              <a:gd name="adj" fmla="val 14634"/>
            </a:avLst>
          </a:prstGeom>
          <a:solidFill>
            <a:srgbClr val="00BFA5">
              <a:alpha val="85000"/>
            </a:srgbClr>
          </a:solidFill>
          <a:ln/>
        </p:spPr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5C545F83-BF0E-4D03-A6EA-6435615ABA8B}"/>
              </a:ext>
            </a:extLst>
          </p:cNvPr>
          <p:cNvSpPr/>
          <p:nvPr/>
        </p:nvSpPr>
        <p:spPr>
          <a:xfrm>
            <a:off x="5025390" y="2697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B300"/>
                </a:solidFill>
              </a:rPr>
              <a:t>★</a:t>
            </a:r>
            <a:r>
              <a:rPr lang="en-US" sz="1200" dirty="0">
                <a:solidFill>
                  <a:srgbClr val="FFB300"/>
                </a:solidFill>
              </a:rPr>
              <a:t>  </a:t>
            </a:r>
            <a:r>
              <a:rPr lang="en-US" b="1" dirty="0">
                <a:solidFill>
                  <a:srgbClr val="0F1E3C"/>
                </a:solidFill>
              </a:rPr>
              <a:t>Random Forest </a:t>
            </a:r>
          </a:p>
          <a:p>
            <a:pPr marL="0" indent="0" algn="ctr">
              <a:buNone/>
            </a:pPr>
            <a:r>
              <a:rPr lang="en-US" b="1" dirty="0" err="1">
                <a:solidFill>
                  <a:srgbClr val="0F1E3C"/>
                </a:solidFill>
              </a:rPr>
              <a:t>Modelo</a:t>
            </a:r>
            <a:r>
              <a:rPr lang="en-US" b="1" dirty="0">
                <a:solidFill>
                  <a:srgbClr val="0F1E3C"/>
                </a:solidFill>
              </a:rPr>
              <a:t> Recomendado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Propuesta de Investigación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8458200" cy="1078992"/>
          </a:xfrm>
          <a:prstGeom prst="roundRect">
            <a:avLst>
              <a:gd name="adj" fmla="val 10169"/>
            </a:avLst>
          </a:prstGeom>
          <a:solidFill>
            <a:srgbClr val="162348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📍  Contexto operativo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3898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0FF"/>
                </a:solidFill>
              </a:rPr>
              <a:t>Ecobici (GCBA) ofrece 30 minutos gratuitos por viaje. Todo viaje que supere ese límite genera un cargo adicional para el usuario. El sistema cuenta con ~3.2 millones de registros históricos con información disponible al momento de retirar la bicicleta: hora, día, estación de origen/destino, distancia, género y modelo de bici.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2212848"/>
            <a:ext cx="8458200" cy="749808"/>
          </a:xfrm>
          <a:prstGeom prst="roundRect">
            <a:avLst>
              <a:gd name="adj" fmla="val 14634"/>
            </a:avLst>
          </a:prstGeom>
          <a:solidFill>
            <a:srgbClr val="00BFA5">
              <a:alpha val="12000"/>
            </a:srgbClr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267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❓  Pregunta de investigación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560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0FF"/>
                </a:solidFill>
              </a:rPr>
              <a:t>¿Es posible predecir la categoría de duración de un viaje Ecobici (Corto / Mediano / Largo) usando únicamente información disponible al momento de retirar la bicicleta, antes de que el viaje comience?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Hipótesis de trabajo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Señal temporal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 hora y el día de la semana codifican patrones de uso (commuting vs recreativo) que predicen si el viaje será largo.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4612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33756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Señal geográfica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 distancia entre estaciones y la ubicación geográfica son el predictor más directo de la duración del viaje.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2697480" cy="1572768"/>
          </a:xfrm>
          <a:prstGeom prst="roundRect">
            <a:avLst>
              <a:gd name="adj" fmla="val 6977"/>
            </a:avLst>
          </a:prstGeom>
          <a:solidFill>
            <a:srgbClr val="162348"/>
          </a:solidFill>
          <a:ln/>
          <a:effectLst>
            <a:outerShdw blurRad="1778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26480" y="349300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21792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No linealidad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424281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0FF"/>
                </a:solidFill>
              </a:rPr>
              <a:t>Las interacciones entre variables (hora + distancia + día) requieren modelos no lineales para capturarse correctamente.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170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Próximos</a:t>
            </a:r>
            <a:r>
              <a:rPr lang="en-US" sz="2400" b="1" dirty="0">
                <a:solidFill>
                  <a:srgbClr val="FFFFFF"/>
                </a:solidFill>
              </a:rPr>
              <a:t> Pasos y Referencias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320040" y="4561586"/>
            <a:ext cx="8595360" cy="504190"/>
          </a:xfrm>
          <a:prstGeom prst="roundRect">
            <a:avLst>
              <a:gd name="adj" fmla="val 1020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300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📚  Referencias bibliográficas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6158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Pedregosa et al. (2011). Scikit-learn: Machine Learning in Python. JMLR, 12, 2825–2830.  ·  Chen &amp; Guestrin (2016). XGBoost. KDD.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74446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Prokhorenkova et al. (2018). CatBoost: unbiased boosting with categorical features. NeurIPS.  ·  Akiba et al. (2019). Optuna. KDD.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492734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7"/>
                </a:solidFill>
              </a:rPr>
              <a:t>James et al. (2021). An Introduction to Statistical Learning (2nd ed.). Springer.  ·  Dataset: Buenos Aires Data — data.buenosaires.gob.ar/dataset/bicicletas-publicas  (CC BY 4.0).</a:t>
            </a:r>
            <a:endParaRPr lang="en-US" sz="8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9E3EB458-4312-4451-A29E-30C594C79EEA}"/>
              </a:ext>
            </a:extLst>
          </p:cNvPr>
          <p:cNvSpPr/>
          <p:nvPr/>
        </p:nvSpPr>
        <p:spPr>
          <a:xfrm>
            <a:off x="804671" y="729996"/>
            <a:ext cx="45719" cy="3391154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>
                <a:alpha val="60000"/>
              </a:srgbClr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DFB21D37-5CB9-4E74-B61D-268132AB5095}"/>
              </a:ext>
            </a:extLst>
          </p:cNvPr>
          <p:cNvSpPr/>
          <p:nvPr/>
        </p:nvSpPr>
        <p:spPr>
          <a:xfrm>
            <a:off x="621792" y="87757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53C61104-BBE4-444E-8CB2-BFF2C23C9D0C}"/>
              </a:ext>
            </a:extLst>
          </p:cNvPr>
          <p:cNvSpPr/>
          <p:nvPr/>
        </p:nvSpPr>
        <p:spPr>
          <a:xfrm>
            <a:off x="621792" y="87757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01</a:t>
            </a:r>
            <a:endParaRPr lang="en-US" sz="1000" dirty="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2A6388DD-0A2B-45E9-B238-971B52777761}"/>
              </a:ext>
            </a:extLst>
          </p:cNvPr>
          <p:cNvSpPr/>
          <p:nvPr/>
        </p:nvSpPr>
        <p:spPr>
          <a:xfrm>
            <a:off x="1097280" y="818896"/>
            <a:ext cx="7680960" cy="753618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D088E25A-24E5-4AC2-B059-0279D75A8087}"/>
              </a:ext>
            </a:extLst>
          </p:cNvPr>
          <p:cNvSpPr/>
          <p:nvPr/>
        </p:nvSpPr>
        <p:spPr>
          <a:xfrm>
            <a:off x="1234440" y="85928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09CE13F-CA5E-456C-91D8-8837A6872291}"/>
              </a:ext>
            </a:extLst>
          </p:cNvPr>
          <p:cNvSpPr/>
          <p:nvPr/>
        </p:nvSpPr>
        <p:spPr>
          <a:xfrm>
            <a:off x="1600200" y="85928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Incorporar historial del usuario</a:t>
            </a:r>
            <a:endParaRPr lang="en-US" sz="110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809EC5C8-0328-44B7-B45B-85069B7FCB60}"/>
              </a:ext>
            </a:extLst>
          </p:cNvPr>
          <p:cNvSpPr/>
          <p:nvPr/>
        </p:nvSpPr>
        <p:spPr>
          <a:xfrm>
            <a:off x="6812280" y="87757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00E676">
              <a:alpha val="75000"/>
            </a:srgbClr>
          </a:solidFill>
          <a:ln/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8D6C451-D4C6-4B54-B8FA-61A21FA5E77C}"/>
              </a:ext>
            </a:extLst>
          </p:cNvPr>
          <p:cNvSpPr/>
          <p:nvPr/>
        </p:nvSpPr>
        <p:spPr>
          <a:xfrm>
            <a:off x="6812280" y="87757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76"/>
                </a:solidFill>
              </a:rPr>
              <a:t>Impacto Alto</a:t>
            </a:r>
            <a:endParaRPr lang="en-US" sz="8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293C0EEE-A2EC-4EC5-AA7A-B973564383BD}"/>
              </a:ext>
            </a:extLst>
          </p:cNvPr>
          <p:cNvSpPr/>
          <p:nvPr/>
        </p:nvSpPr>
        <p:spPr>
          <a:xfrm>
            <a:off x="1234440" y="117017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Agregar como feature la duración promedio de los últimos N viajes del usuario al momento de retirar la bici.</a:t>
            </a:r>
            <a:endParaRPr lang="en-US" sz="8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A28B433-EB89-4049-A063-5927CE70F55B}"/>
              </a:ext>
            </a:extLst>
          </p:cNvPr>
          <p:cNvSpPr/>
          <p:nvPr/>
        </p:nvSpPr>
        <p:spPr>
          <a:xfrm>
            <a:off x="4846320" y="1151128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El comportamiento pasado del usuario es la señal más predictiva de la duración futura — actualmente ausente en el dataset.</a:t>
            </a:r>
            <a:endParaRPr lang="en-US" sz="8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02472F2A-8F50-445D-A772-D2878468F090}"/>
              </a:ext>
            </a:extLst>
          </p:cNvPr>
          <p:cNvSpPr/>
          <p:nvPr/>
        </p:nvSpPr>
        <p:spPr>
          <a:xfrm>
            <a:off x="621792" y="173228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C6A9AD4-E009-43DE-B94B-8B941A034D71}"/>
              </a:ext>
            </a:extLst>
          </p:cNvPr>
          <p:cNvSpPr/>
          <p:nvPr/>
        </p:nvSpPr>
        <p:spPr>
          <a:xfrm>
            <a:off x="621792" y="1732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02</a:t>
            </a:r>
            <a:endParaRPr lang="en-US" sz="10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D3F26AD9-175F-4C5E-8BC6-AF70D450BAC4}"/>
              </a:ext>
            </a:extLst>
          </p:cNvPr>
          <p:cNvSpPr/>
          <p:nvPr/>
        </p:nvSpPr>
        <p:spPr>
          <a:xfrm>
            <a:off x="1097280" y="1661922"/>
            <a:ext cx="7680960" cy="758698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35A005D-4F29-4442-98E6-3B8556250AAB}"/>
              </a:ext>
            </a:extLst>
          </p:cNvPr>
          <p:cNvSpPr/>
          <p:nvPr/>
        </p:nvSpPr>
        <p:spPr>
          <a:xfrm>
            <a:off x="1188720" y="16891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D247972-A1FC-4DD7-985C-D66F4C5932AC}"/>
              </a:ext>
            </a:extLst>
          </p:cNvPr>
          <p:cNvSpPr/>
          <p:nvPr/>
        </p:nvSpPr>
        <p:spPr>
          <a:xfrm>
            <a:off x="1554480" y="16891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Optimizar CatBoost con Optuna</a:t>
            </a:r>
            <a:endParaRPr lang="en-US" sz="110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32D19BEF-9CA2-4C07-8FE6-0E9B1AF0E242}"/>
              </a:ext>
            </a:extLst>
          </p:cNvPr>
          <p:cNvSpPr/>
          <p:nvPr/>
        </p:nvSpPr>
        <p:spPr>
          <a:xfrm>
            <a:off x="6766560" y="17012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00E676">
              <a:alpha val="75000"/>
            </a:srgbClr>
          </a:solidFill>
          <a:ln/>
        </p:spPr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697AA169-042D-4DE0-92BE-A5898C942C19}"/>
              </a:ext>
            </a:extLst>
          </p:cNvPr>
          <p:cNvSpPr/>
          <p:nvPr/>
        </p:nvSpPr>
        <p:spPr>
          <a:xfrm>
            <a:off x="6766560" y="1745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676"/>
                </a:solidFill>
              </a:rPr>
              <a:t>Impacto Alto</a:t>
            </a:r>
            <a:endParaRPr lang="en-US" sz="8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43EE65E7-3038-4D74-BACB-064E090A47D5}"/>
              </a:ext>
            </a:extLst>
          </p:cNvPr>
          <p:cNvSpPr/>
          <p:nvPr/>
        </p:nvSpPr>
        <p:spPr>
          <a:xfrm>
            <a:off x="1207008" y="184531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Aplicar búsqueda bayesiana (20–30 trials) sobre CatBoost, que con parámetros default ya obtuvo Recall Largo 0.657 — el 2° mejor.</a:t>
            </a:r>
            <a:endParaRPr lang="en-US" sz="85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010C5F48-CCCA-4C64-B935-404DD1DA52D1}"/>
              </a:ext>
            </a:extLst>
          </p:cNvPr>
          <p:cNvSpPr/>
          <p:nvPr/>
        </p:nvSpPr>
        <p:spPr>
          <a:xfrm>
            <a:off x="4800600" y="188264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Si con default supera a RF en Recall Largo (0.657 vs 0.607) manteniendo inferencia de 0.1s, sería el candidato ideal para producción.</a:t>
            </a:r>
            <a:endParaRPr lang="en-US" sz="85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8294D3D9-5586-4B67-B3F9-332D74961111}"/>
              </a:ext>
            </a:extLst>
          </p:cNvPr>
          <p:cNvSpPr/>
          <p:nvPr/>
        </p:nvSpPr>
        <p:spPr>
          <a:xfrm>
            <a:off x="621792" y="260604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586614F-54CF-457F-868C-5059F42FF7FD}"/>
              </a:ext>
            </a:extLst>
          </p:cNvPr>
          <p:cNvSpPr/>
          <p:nvPr/>
        </p:nvSpPr>
        <p:spPr>
          <a:xfrm>
            <a:off x="62179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03</a:t>
            </a:r>
            <a:endParaRPr lang="en-US" sz="1000" dirty="0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9C6ADFC6-1C1C-4FC2-9CA7-7891942137C1}"/>
              </a:ext>
            </a:extLst>
          </p:cNvPr>
          <p:cNvSpPr/>
          <p:nvPr/>
        </p:nvSpPr>
        <p:spPr>
          <a:xfrm>
            <a:off x="1083310" y="2494280"/>
            <a:ext cx="7680960" cy="819912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724CA44F-4CB8-4F46-9EDE-B20E1DF71FC9}"/>
              </a:ext>
            </a:extLst>
          </p:cNvPr>
          <p:cNvSpPr/>
          <p:nvPr/>
        </p:nvSpPr>
        <p:spPr>
          <a:xfrm>
            <a:off x="1234440" y="251790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9690324-E743-4968-B774-0871F21B1D87}"/>
              </a:ext>
            </a:extLst>
          </p:cNvPr>
          <p:cNvSpPr/>
          <p:nvPr/>
        </p:nvSpPr>
        <p:spPr>
          <a:xfrm>
            <a:off x="1600200" y="251790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Revisar umbrales de clasificación</a:t>
            </a:r>
            <a:endParaRPr lang="en-US" sz="110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90AF9531-14FF-411D-8AC4-0AAF29730B77}"/>
              </a:ext>
            </a:extLst>
          </p:cNvPr>
          <p:cNvSpPr/>
          <p:nvPr/>
        </p:nvSpPr>
        <p:spPr>
          <a:xfrm>
            <a:off x="6812280" y="253619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FB300">
              <a:alpha val="75000"/>
            </a:srgbClr>
          </a:solidFill>
          <a:ln/>
        </p:spPr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F0DD01F3-4E8E-4DDC-802A-EAB4602E9351}"/>
              </a:ext>
            </a:extLst>
          </p:cNvPr>
          <p:cNvSpPr/>
          <p:nvPr/>
        </p:nvSpPr>
        <p:spPr>
          <a:xfrm>
            <a:off x="6812280" y="253619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Impacto Medio</a:t>
            </a:r>
            <a:endParaRPr lang="en-US" sz="8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51F9676A-5F52-44DB-A17A-3E6D1A4DF68D}"/>
              </a:ext>
            </a:extLst>
          </p:cNvPr>
          <p:cNvSpPr/>
          <p:nvPr/>
        </p:nvSpPr>
        <p:spPr>
          <a:xfrm>
            <a:off x="1234440" y="282879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Los límites Corto/Mediano (10 min) y Mediano/Largo (30 min) generan alta confusión en la zona de frontera. Evaluar umbrales óptimos via curva ROC multiclase.</a:t>
            </a:r>
            <a:endParaRPr lang="en-US" sz="8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ED85A1E-099E-4D7F-9A54-6EA6C6371954}"/>
              </a:ext>
            </a:extLst>
          </p:cNvPr>
          <p:cNvSpPr/>
          <p:nvPr/>
        </p:nvSpPr>
        <p:spPr>
          <a:xfrm>
            <a:off x="4846320" y="282879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Ajustar el umbral de decisión para clase Largo puede mejorar el Recall sin reentrenar el modelo — impacto directo en producción.</a:t>
            </a:r>
            <a:endParaRPr lang="en-US" sz="850" dirty="0"/>
          </a:p>
        </p:txBody>
      </p:sp>
      <p:sp>
        <p:nvSpPr>
          <p:cNvPr id="60" name="Shape 31">
            <a:extLst>
              <a:ext uri="{FF2B5EF4-FFF2-40B4-BE49-F238E27FC236}">
                <a16:creationId xmlns:a16="http://schemas.microsoft.com/office/drawing/2014/main" id="{110AEC73-B773-4010-9FD1-CDA72943E5E4}"/>
              </a:ext>
            </a:extLst>
          </p:cNvPr>
          <p:cNvSpPr/>
          <p:nvPr/>
        </p:nvSpPr>
        <p:spPr>
          <a:xfrm>
            <a:off x="621792" y="3467100"/>
            <a:ext cx="402336" cy="40233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F5132E86-B17E-4F3A-BB10-B51C000B2BF9}"/>
              </a:ext>
            </a:extLst>
          </p:cNvPr>
          <p:cNvSpPr/>
          <p:nvPr/>
        </p:nvSpPr>
        <p:spPr>
          <a:xfrm>
            <a:off x="621792" y="34671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C"/>
                </a:solidFill>
              </a:rPr>
              <a:t>04</a:t>
            </a:r>
            <a:endParaRPr lang="en-US" sz="1000" dirty="0"/>
          </a:p>
        </p:txBody>
      </p:sp>
      <p:sp>
        <p:nvSpPr>
          <p:cNvPr id="62" name="Shape 33">
            <a:extLst>
              <a:ext uri="{FF2B5EF4-FFF2-40B4-BE49-F238E27FC236}">
                <a16:creationId xmlns:a16="http://schemas.microsoft.com/office/drawing/2014/main" id="{7E32AAB3-2FED-41AA-893B-F30E8D24EA6F}"/>
              </a:ext>
            </a:extLst>
          </p:cNvPr>
          <p:cNvSpPr/>
          <p:nvPr/>
        </p:nvSpPr>
        <p:spPr>
          <a:xfrm>
            <a:off x="1097280" y="3380486"/>
            <a:ext cx="7680960" cy="850392"/>
          </a:xfrm>
          <a:prstGeom prst="roundRect">
            <a:avLst>
              <a:gd name="adj" fmla="val 9524"/>
            </a:avLst>
          </a:prstGeom>
          <a:solidFill>
            <a:srgbClr val="162348"/>
          </a:solidFill>
          <a:ln/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1B22E3C4-7214-4199-A90C-5D817B93627F}"/>
              </a:ext>
            </a:extLst>
          </p:cNvPr>
          <p:cNvSpPr/>
          <p:nvPr/>
        </p:nvSpPr>
        <p:spPr>
          <a:xfrm>
            <a:off x="1188720" y="341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3523BC35-7047-4D00-8147-24196AEA842E}"/>
              </a:ext>
            </a:extLst>
          </p:cNvPr>
          <p:cNvSpPr/>
          <p:nvPr/>
        </p:nvSpPr>
        <p:spPr>
          <a:xfrm>
            <a:off x="1554480" y="341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</a:rPr>
              <a:t>Entrenar con dataset completo</a:t>
            </a:r>
            <a:endParaRPr lang="en-US" sz="110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5EA98C06-B264-4427-8871-ADD94B50727F}"/>
              </a:ext>
            </a:extLst>
          </p:cNvPr>
          <p:cNvSpPr/>
          <p:nvPr/>
        </p:nvSpPr>
        <p:spPr>
          <a:xfrm>
            <a:off x="6766560" y="3430016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FFB300">
              <a:alpha val="75000"/>
            </a:srgbClr>
          </a:solidFill>
          <a:ln/>
        </p:spPr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189D2B92-630E-481E-8666-671B716A7E56}"/>
              </a:ext>
            </a:extLst>
          </p:cNvPr>
          <p:cNvSpPr/>
          <p:nvPr/>
        </p:nvSpPr>
        <p:spPr>
          <a:xfrm>
            <a:off x="6766560" y="34300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B300"/>
                </a:solidFill>
              </a:rPr>
              <a:t>Impacto Medio</a:t>
            </a:r>
            <a:endParaRPr lang="en-US" sz="800" dirty="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86A43A30-AE9D-4A69-9A13-3E809DC916C4}"/>
              </a:ext>
            </a:extLst>
          </p:cNvPr>
          <p:cNvSpPr/>
          <p:nvPr/>
        </p:nvSpPr>
        <p:spPr>
          <a:xfrm>
            <a:off x="1188720" y="372262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A3C7"/>
                </a:solidFill>
              </a:rPr>
              <a:t>Qué: </a:t>
            </a:r>
            <a:r>
              <a:rPr lang="en-US" sz="850" dirty="0">
                <a:solidFill>
                  <a:srgbClr val="E0F0FF"/>
                </a:solidFill>
              </a:rPr>
              <a:t>Todos los modelos usaron submuestras (44–66% del train disponible). Entrenar RF y XGBoost sobre los 2.27M de registros completos.</a:t>
            </a:r>
            <a:endParaRPr lang="en-US" sz="850" dirty="0"/>
          </a:p>
        </p:txBody>
      </p:sp>
      <p:sp>
        <p:nvSpPr>
          <p:cNvPr id="68" name="Text 39">
            <a:extLst>
              <a:ext uri="{FF2B5EF4-FFF2-40B4-BE49-F238E27FC236}">
                <a16:creationId xmlns:a16="http://schemas.microsoft.com/office/drawing/2014/main" id="{0307D969-366F-47CD-BA59-24CDFF3D4894}"/>
              </a:ext>
            </a:extLst>
          </p:cNvPr>
          <p:cNvSpPr/>
          <p:nvPr/>
        </p:nvSpPr>
        <p:spPr>
          <a:xfrm>
            <a:off x="4800600" y="37226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</a:rPr>
              <a:t>Por qué: </a:t>
            </a:r>
            <a:r>
              <a:rPr lang="en-US" sz="850" dirty="0">
                <a:solidFill>
                  <a:srgbClr val="E0F0FF"/>
                </a:solidFill>
              </a:rPr>
              <a:t>La curva de aprendizaje muestra que los modelos aún no convergieron. Se estima una mejora de 0.005–0.02 pts de F1-macro adicionales.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1726</Words>
  <Application>Microsoft Office PowerPoint</Application>
  <PresentationFormat>Presentación en pantalla (16:9)</PresentationFormat>
  <Paragraphs>334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Ecobici — Predicción de duración de viajes</dc:title>
  <dc:subject>PptxGenJS Presentation</dc:subject>
  <dc:creator>PptxGenJS</dc:creator>
  <cp:lastModifiedBy>Carmen Rodriguez</cp:lastModifiedBy>
  <cp:revision>6</cp:revision>
  <dcterms:created xsi:type="dcterms:W3CDTF">2026-06-08T23:56:03Z</dcterms:created>
  <dcterms:modified xsi:type="dcterms:W3CDTF">2026-06-15T18:27:05Z</dcterms:modified>
</cp:coreProperties>
</file>